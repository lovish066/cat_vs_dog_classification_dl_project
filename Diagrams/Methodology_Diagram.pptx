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85189"/>
            <a:ext cx="4561840" cy="7273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2626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latin typeface="Times New Roman"/>
                <a:cs typeface="Times New Roman"/>
              </a:rPr>
              <a:t>METHODOLOGY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3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10">
                <a:latin typeface="Times New Roman"/>
                <a:cs typeface="Times New Roman"/>
              </a:rPr>
              <a:t>┌──────────────────────────┐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  <a:tabLst>
                <a:tab pos="517525" algn="l"/>
                <a:tab pos="2872105" algn="l"/>
              </a:tabLst>
            </a:pPr>
            <a:r>
              <a:rPr dirty="0" sz="1800" spc="-50">
                <a:latin typeface="Times New Roman"/>
                <a:cs typeface="Times New Roman"/>
              </a:rPr>
              <a:t>│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0">
                <a:latin typeface="Times New Roman"/>
                <a:cs typeface="Times New Roman"/>
              </a:rPr>
              <a:t>DATA</a:t>
            </a:r>
            <a:r>
              <a:rPr dirty="0" sz="1800" spc="-8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COLLECTION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50">
                <a:latin typeface="Times New Roman"/>
                <a:cs typeface="Times New Roman"/>
              </a:rPr>
              <a:t>│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1800">
                <a:latin typeface="Times New Roman"/>
                <a:cs typeface="Times New Roman"/>
              </a:rPr>
              <a:t>│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(Cat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&amp;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Dog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Image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Dataset)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│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800" spc="-10">
                <a:latin typeface="Times New Roman"/>
                <a:cs typeface="Times New Roman"/>
              </a:rPr>
              <a:t>└─────────────┬────────────┘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spc="-50">
                <a:latin typeface="Times New Roman"/>
                <a:cs typeface="Times New Roman"/>
              </a:rPr>
              <a:t>│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800" spc="-50">
                <a:latin typeface="Times New Roman"/>
                <a:cs typeface="Times New Roman"/>
              </a:rPr>
              <a:t>▼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1800" spc="-10">
                <a:latin typeface="Times New Roman"/>
                <a:cs typeface="Times New Roman"/>
              </a:rPr>
              <a:t>┌──────────────────────────┐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  <a:tabLst>
                <a:tab pos="461009" algn="l"/>
                <a:tab pos="3082925" algn="l"/>
              </a:tabLst>
            </a:pPr>
            <a:r>
              <a:rPr dirty="0" sz="1800" spc="-50">
                <a:latin typeface="Times New Roman"/>
                <a:cs typeface="Times New Roman"/>
              </a:rPr>
              <a:t>│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5">
                <a:latin typeface="Times New Roman"/>
                <a:cs typeface="Times New Roman"/>
              </a:rPr>
              <a:t>DATA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PREPROCESSING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50">
                <a:latin typeface="Times New Roman"/>
                <a:cs typeface="Times New Roman"/>
              </a:rPr>
              <a:t>│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  <a:tabLst>
                <a:tab pos="2207260" algn="l"/>
              </a:tabLst>
            </a:pPr>
            <a:r>
              <a:rPr dirty="0" sz="1800">
                <a:latin typeface="Times New Roman"/>
                <a:cs typeface="Times New Roman"/>
              </a:rPr>
              <a:t>│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-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Resize</a:t>
            </a:r>
            <a:r>
              <a:rPr dirty="0" sz="1800" spc="-10">
                <a:latin typeface="Times New Roman"/>
                <a:cs typeface="Times New Roman"/>
              </a:rPr>
              <a:t> Images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50">
                <a:latin typeface="Times New Roman"/>
                <a:cs typeface="Times New Roman"/>
              </a:rPr>
              <a:t>│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  <a:tabLst>
                <a:tab pos="2142490" algn="l"/>
              </a:tabLst>
            </a:pPr>
            <a:r>
              <a:rPr dirty="0" sz="1800">
                <a:latin typeface="Times New Roman"/>
                <a:cs typeface="Times New Roman"/>
              </a:rPr>
              <a:t>│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- </a:t>
            </a:r>
            <a:r>
              <a:rPr dirty="0" sz="1800" spc="-10">
                <a:latin typeface="Times New Roman"/>
                <a:cs typeface="Times New Roman"/>
              </a:rPr>
              <a:t>Normalization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50">
                <a:latin typeface="Times New Roman"/>
                <a:cs typeface="Times New Roman"/>
              </a:rPr>
              <a:t>│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  <a:tabLst>
                <a:tab pos="2121535" algn="l"/>
              </a:tabLst>
            </a:pPr>
            <a:r>
              <a:rPr dirty="0" sz="1800">
                <a:latin typeface="Times New Roman"/>
                <a:cs typeface="Times New Roman"/>
              </a:rPr>
              <a:t>│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-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Train/Test </a:t>
            </a:r>
            <a:r>
              <a:rPr dirty="0" sz="1800" spc="-10">
                <a:latin typeface="Times New Roman"/>
                <a:cs typeface="Times New Roman"/>
              </a:rPr>
              <a:t>Split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50">
                <a:latin typeface="Times New Roman"/>
                <a:cs typeface="Times New Roman"/>
              </a:rPr>
              <a:t>│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1800" spc="-10">
                <a:latin typeface="Times New Roman"/>
                <a:cs typeface="Times New Roman"/>
              </a:rPr>
              <a:t>└─────────────┬────────────┘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800" spc="-50">
                <a:latin typeface="Times New Roman"/>
                <a:cs typeface="Times New Roman"/>
              </a:rPr>
              <a:t>│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spc="-50">
                <a:latin typeface="Times New Roman"/>
                <a:cs typeface="Times New Roman"/>
              </a:rPr>
              <a:t>▼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1800" spc="-10">
                <a:latin typeface="Times New Roman"/>
                <a:cs typeface="Times New Roman"/>
              </a:rPr>
              <a:t>┌──────────────────────────┐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  <a:tabLst>
                <a:tab pos="403225" algn="l"/>
                <a:tab pos="3121660" algn="l"/>
              </a:tabLst>
            </a:pPr>
            <a:r>
              <a:rPr dirty="0" sz="1800" spc="-50">
                <a:latin typeface="Times New Roman"/>
                <a:cs typeface="Times New Roman"/>
              </a:rPr>
              <a:t>│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0">
                <a:latin typeface="Times New Roman"/>
                <a:cs typeface="Times New Roman"/>
              </a:rPr>
              <a:t>DATA</a:t>
            </a:r>
            <a:r>
              <a:rPr dirty="0" sz="1800" spc="-19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AUGMENTATION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50">
                <a:latin typeface="Times New Roman"/>
                <a:cs typeface="Times New Roman"/>
              </a:rPr>
              <a:t>│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8134349"/>
            <a:ext cx="1369060" cy="1243330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800">
                <a:latin typeface="Times New Roman"/>
                <a:cs typeface="Times New Roman"/>
              </a:rPr>
              <a:t>│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- </a:t>
            </a:r>
            <a:r>
              <a:rPr dirty="0" sz="1800" spc="-10">
                <a:latin typeface="Times New Roman"/>
                <a:cs typeface="Times New Roman"/>
              </a:rPr>
              <a:t>Rotation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>
                <a:latin typeface="Times New Roman"/>
                <a:cs typeface="Times New Roman"/>
              </a:rPr>
              <a:t>│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-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Flip /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Shift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1800">
                <a:latin typeface="Times New Roman"/>
                <a:cs typeface="Times New Roman"/>
              </a:rPr>
              <a:t>│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- </a:t>
            </a:r>
            <a:r>
              <a:rPr dirty="0" sz="1800" spc="-20">
                <a:latin typeface="Times New Roman"/>
                <a:cs typeface="Times New Roman"/>
              </a:rPr>
              <a:t>Zoom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817774" y="8134349"/>
            <a:ext cx="211454" cy="1243330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marL="36195">
              <a:lnSpc>
                <a:spcPct val="100000"/>
              </a:lnSpc>
              <a:spcBef>
                <a:spcPts val="1130"/>
              </a:spcBef>
            </a:pPr>
            <a:r>
              <a:rPr dirty="0" sz="1800" spc="-50">
                <a:latin typeface="Times New Roman"/>
                <a:cs typeface="Times New Roman"/>
              </a:rPr>
              <a:t>│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spc="-50">
                <a:latin typeface="Times New Roman"/>
                <a:cs typeface="Times New Roman"/>
              </a:rPr>
              <a:t>│</a:t>
            </a:r>
            <a:endParaRPr sz="1800">
              <a:latin typeface="Times New Roman"/>
              <a:cs typeface="Times New Roman"/>
            </a:endParaRPr>
          </a:p>
          <a:p>
            <a:pPr marL="24765">
              <a:lnSpc>
                <a:spcPct val="100000"/>
              </a:lnSpc>
              <a:spcBef>
                <a:spcPts val="1040"/>
              </a:spcBef>
            </a:pPr>
            <a:r>
              <a:rPr dirty="0" sz="1800" spc="-50">
                <a:latin typeface="Times New Roman"/>
                <a:cs typeface="Times New Roman"/>
              </a:rPr>
              <a:t>│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02004" y="9483038"/>
            <a:ext cx="45618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Times New Roman"/>
                <a:cs typeface="Times New Roman"/>
              </a:rPr>
              <a:t>└─────────────┬────────────┘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755650"/>
            <a:ext cx="4561840" cy="8960485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800" spc="-50">
                <a:latin typeface="Times New Roman"/>
                <a:cs typeface="Times New Roman"/>
              </a:rPr>
              <a:t>│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1800" spc="-50">
                <a:latin typeface="Times New Roman"/>
                <a:cs typeface="Times New Roman"/>
              </a:rPr>
              <a:t>▼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800" spc="-10">
                <a:latin typeface="Times New Roman"/>
                <a:cs typeface="Times New Roman"/>
              </a:rPr>
              <a:t>┌──────────────────────────┐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  <a:tabLst>
                <a:tab pos="346710" algn="l"/>
                <a:tab pos="2983865" algn="l"/>
              </a:tabLst>
            </a:pPr>
            <a:r>
              <a:rPr dirty="0" sz="1800" spc="-50">
                <a:latin typeface="Times New Roman"/>
                <a:cs typeface="Times New Roman"/>
              </a:rPr>
              <a:t>│</a:t>
            </a:r>
            <a:r>
              <a:rPr dirty="0" sz="1800">
                <a:latin typeface="Times New Roman"/>
                <a:cs typeface="Times New Roman"/>
              </a:rPr>
              <a:t>	CNN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MODEL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DESIGN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50">
                <a:latin typeface="Times New Roman"/>
                <a:cs typeface="Times New Roman"/>
              </a:rPr>
              <a:t>│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  <a:tabLst>
                <a:tab pos="2167890" algn="l"/>
              </a:tabLst>
            </a:pPr>
            <a:r>
              <a:rPr dirty="0" sz="1800">
                <a:latin typeface="Times New Roman"/>
                <a:cs typeface="Times New Roman"/>
              </a:rPr>
              <a:t>│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-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Conv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Layers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50">
                <a:latin typeface="Times New Roman"/>
                <a:cs typeface="Times New Roman"/>
              </a:rPr>
              <a:t>│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  <a:tabLst>
                <a:tab pos="2212975" algn="l"/>
              </a:tabLst>
            </a:pPr>
            <a:r>
              <a:rPr dirty="0" sz="1800">
                <a:latin typeface="Times New Roman"/>
                <a:cs typeface="Times New Roman"/>
              </a:rPr>
              <a:t>│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-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Pooling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Layers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50">
                <a:latin typeface="Times New Roman"/>
                <a:cs typeface="Times New Roman"/>
              </a:rPr>
              <a:t>│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  <a:tabLst>
                <a:tab pos="2355215" algn="l"/>
              </a:tabLst>
            </a:pPr>
            <a:r>
              <a:rPr dirty="0" sz="1800">
                <a:latin typeface="Times New Roman"/>
                <a:cs typeface="Times New Roman"/>
              </a:rPr>
              <a:t>│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-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Dense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+</a:t>
            </a:r>
            <a:r>
              <a:rPr dirty="0" sz="1800" spc="-10">
                <a:latin typeface="Times New Roman"/>
                <a:cs typeface="Times New Roman"/>
              </a:rPr>
              <a:t> Softmax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50">
                <a:latin typeface="Times New Roman"/>
                <a:cs typeface="Times New Roman"/>
              </a:rPr>
              <a:t>│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spc="-10">
                <a:latin typeface="Times New Roman"/>
                <a:cs typeface="Times New Roman"/>
              </a:rPr>
              <a:t>└─────────────┬────────────┘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1800" spc="-50">
                <a:latin typeface="Times New Roman"/>
                <a:cs typeface="Times New Roman"/>
              </a:rPr>
              <a:t>│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spc="-50">
                <a:latin typeface="Times New Roman"/>
                <a:cs typeface="Times New Roman"/>
              </a:rPr>
              <a:t>▼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800" spc="-10">
                <a:latin typeface="Times New Roman"/>
                <a:cs typeface="Times New Roman"/>
              </a:rPr>
              <a:t>┌──────────────────────────┐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  <a:tabLst>
                <a:tab pos="575310" algn="l"/>
                <a:tab pos="2877820" algn="l"/>
              </a:tabLst>
            </a:pPr>
            <a:r>
              <a:rPr dirty="0" sz="1800" spc="-50">
                <a:latin typeface="Times New Roman"/>
                <a:cs typeface="Times New Roman"/>
              </a:rPr>
              <a:t>│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MODEL</a:t>
            </a:r>
            <a:r>
              <a:rPr dirty="0" sz="1800" spc="-10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TRAINING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50">
                <a:latin typeface="Times New Roman"/>
                <a:cs typeface="Times New Roman"/>
              </a:rPr>
              <a:t>│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  <a:tabLst>
                <a:tab pos="2575560" algn="l"/>
              </a:tabLst>
            </a:pPr>
            <a:r>
              <a:rPr dirty="0" sz="1800">
                <a:latin typeface="Times New Roman"/>
                <a:cs typeface="Times New Roman"/>
              </a:rPr>
              <a:t>│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-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Loss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Function: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CCE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50">
                <a:latin typeface="Times New Roman"/>
                <a:cs typeface="Times New Roman"/>
              </a:rPr>
              <a:t>│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  <a:tabLst>
                <a:tab pos="2474595" algn="l"/>
              </a:tabLst>
            </a:pPr>
            <a:r>
              <a:rPr dirty="0" sz="1800">
                <a:latin typeface="Times New Roman"/>
                <a:cs typeface="Times New Roman"/>
              </a:rPr>
              <a:t>│ -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Optimizer:</a:t>
            </a:r>
            <a:r>
              <a:rPr dirty="0" sz="1800" spc="-9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Adam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50">
                <a:latin typeface="Times New Roman"/>
                <a:cs typeface="Times New Roman"/>
              </a:rPr>
              <a:t>│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  <a:tabLst>
                <a:tab pos="2479675" algn="l"/>
              </a:tabLst>
            </a:pPr>
            <a:r>
              <a:rPr dirty="0" sz="1800">
                <a:latin typeface="Times New Roman"/>
                <a:cs typeface="Times New Roman"/>
              </a:rPr>
              <a:t>│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-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Epochs,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Batch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Size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50">
                <a:latin typeface="Times New Roman"/>
                <a:cs typeface="Times New Roman"/>
              </a:rPr>
              <a:t>│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800" spc="-10">
                <a:latin typeface="Times New Roman"/>
                <a:cs typeface="Times New Roman"/>
              </a:rPr>
              <a:t>└─────────────┬────────────┘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1800" spc="-50">
                <a:latin typeface="Times New Roman"/>
                <a:cs typeface="Times New Roman"/>
              </a:rPr>
              <a:t>│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1800" spc="-50">
                <a:latin typeface="Times New Roman"/>
                <a:cs typeface="Times New Roman"/>
              </a:rPr>
              <a:t>▼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1800" spc="-10">
                <a:latin typeface="Times New Roman"/>
                <a:cs typeface="Times New Roman"/>
              </a:rPr>
              <a:t>┌──────────────────────────┐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  <a:tabLst>
                <a:tab pos="461009" algn="l"/>
                <a:tab pos="3037205" algn="l"/>
              </a:tabLst>
            </a:pPr>
            <a:r>
              <a:rPr dirty="0" sz="1800" spc="-50">
                <a:latin typeface="Times New Roman"/>
                <a:cs typeface="Times New Roman"/>
              </a:rPr>
              <a:t>│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MODEL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EVALUATION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50">
                <a:latin typeface="Times New Roman"/>
                <a:cs typeface="Times New Roman"/>
              </a:rPr>
              <a:t>│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  <a:tabLst>
                <a:tab pos="2271395" algn="l"/>
              </a:tabLst>
            </a:pPr>
            <a:r>
              <a:rPr dirty="0" sz="1800">
                <a:latin typeface="Times New Roman"/>
                <a:cs typeface="Times New Roman"/>
              </a:rPr>
              <a:t>│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-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Accuracy,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Loss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50">
                <a:latin typeface="Times New Roman"/>
                <a:cs typeface="Times New Roman"/>
              </a:rPr>
              <a:t>│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  <a:tabLst>
                <a:tab pos="2256790" algn="l"/>
              </a:tabLst>
            </a:pPr>
            <a:r>
              <a:rPr dirty="0" sz="1800">
                <a:latin typeface="Times New Roman"/>
                <a:cs typeface="Times New Roman"/>
              </a:rPr>
              <a:t>│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-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Precision,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Recall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50">
                <a:latin typeface="Times New Roman"/>
                <a:cs typeface="Times New Roman"/>
              </a:rPr>
              <a:t>│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755650"/>
            <a:ext cx="4561840" cy="2868295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800" spc="-10">
                <a:latin typeface="Times New Roman"/>
                <a:cs typeface="Times New Roman"/>
              </a:rPr>
              <a:t>└─────────────┬────────────┘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1800" spc="-50">
                <a:latin typeface="Times New Roman"/>
                <a:cs typeface="Times New Roman"/>
              </a:rPr>
              <a:t>│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800" spc="-50">
                <a:latin typeface="Times New Roman"/>
                <a:cs typeface="Times New Roman"/>
              </a:rPr>
              <a:t>▼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 spc="-10">
                <a:latin typeface="Times New Roman"/>
                <a:cs typeface="Times New Roman"/>
              </a:rPr>
              <a:t>┌──────────────────────────┐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  <a:tabLst>
                <a:tab pos="517525" algn="l"/>
                <a:tab pos="3000375" algn="l"/>
              </a:tabLst>
            </a:pPr>
            <a:r>
              <a:rPr dirty="0" sz="1800" spc="-50">
                <a:latin typeface="Times New Roman"/>
                <a:cs typeface="Times New Roman"/>
              </a:rPr>
              <a:t>│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PREDICTION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OUTPUT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50">
                <a:latin typeface="Times New Roman"/>
                <a:cs typeface="Times New Roman"/>
              </a:rPr>
              <a:t>│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800">
                <a:latin typeface="Times New Roman"/>
                <a:cs typeface="Times New Roman"/>
              </a:rPr>
              <a:t>│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(Cat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Dog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Classification)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│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800" spc="-10">
                <a:latin typeface="Times New Roman"/>
                <a:cs typeface="Times New Roman"/>
              </a:rPr>
              <a:t>└──────────────────────────┘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LOVISH GOYAL</dc:creator>
  <dcterms:created xsi:type="dcterms:W3CDTF">2025-12-05T15:30:11Z</dcterms:created>
  <dcterms:modified xsi:type="dcterms:W3CDTF">2025-12-05T15:30:11Z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2025-12-05T00:00:00Z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2025-12-05T00:00:00Z</vt:filetime>
  </property>
  <property fmtid="{D5CDD505-2E9C-101B-9397-08002B2CF9AE}" pid="5" name="Producer">
    <vt:lpwstr>Microsoft® Word 2021</vt:lpwstr>
  </property>
</Properties>
</file>